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2F3B52"/>
                </a:solidFill>
                <a:latin typeface="微软雅黑" panose="020B0503020204020204" charset="-122"/>
              </a:rPr>
              <a:t>REMO_new2_AdaMaO</a:t>
            </a:r>
            <a:endParaRPr sz="4400" b="1" i="0">
              <a:solidFill>
                <a:srgbClr val="2F3B52"/>
              </a:solidFill>
              <a:latin typeface="微软雅黑" panose="020B0503020204020204" charset="-122"/>
            </a:endParaRPr>
          </a:p>
          <a:p>
            <a:r>
              <a:rPr sz="2200" b="0" i="0">
                <a:solidFill>
                  <a:srgbClr val="222A35"/>
                </a:solidFill>
                <a:latin typeface="微软雅黑" panose="020B0503020204020204" charset="-122"/>
              </a:rPr>
              <a:t>面向昂贵高维多目标优化的自适应关系学习算法</a:t>
            </a:r>
            <a:endParaRPr sz="22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r>
              <a:rPr sz="1600" b="0" i="0">
                <a:solidFill>
                  <a:srgbClr val="5A6370"/>
                </a:solidFill>
                <a:latin typeface="微软雅黑" panose="020B0503020204020204" charset="-122"/>
              </a:rPr>
              <a:t>各模块功能详解 · 组会汇报（初稿）</a:t>
            </a:r>
            <a:endParaRPr sz="1600" b="0" i="0">
              <a:solidFill>
                <a:srgbClr val="5A6370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A6370"/>
                </a:solidFill>
                <a:latin typeface="微软雅黑" panose="020B0503020204020204" charset="-122"/>
              </a:rPr>
              <a:t>PlatEMO 框架 · 关系学习 + 运行时诊断 + 动态策略切换</a:t>
            </a:r>
            <a:endParaRPr sz="1200" b="0" i="0">
              <a:solidFill>
                <a:srgbClr val="5A637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微软雅黑" panose="020B0503020204020204" charset="-122"/>
              </a:rPr>
              <a:t>一、算法定位与背景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6EA8"/>
                </a:solidFill>
                <a:latin typeface="微软雅黑" panose="020B0503020204020204" charset="-122"/>
              </a:rPr>
              <a:t>▎REMO 关系学习家族的最新自适应版本</a:t>
            </a:r>
            <a:endParaRPr sz="15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问题场景：昂贵多目标优化（真实评估次数受限，本实验 FE=300）+ 高维多目标（目标维 M=10）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继承 REMO 关系学习框架：用神经网络预测「解 A 是否优于解 B」的偏好关系，减少昂贵真实评估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前作 WFG10 的不足：使用固定策略（始终置信度加权），无法按进化阶段 / 种群状态调整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本版核心改动：加入运行时诊断 + 动态策略切换，让算法「自己看情况」选择训练与选择策略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本文档聚焦：逐一介绍算法各模块的作用、输入/输出与彼此衔接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微软雅黑" panose="020B0503020204020204" charset="-122"/>
              </a:rPr>
              <a:t>二、整体框架：主链四步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E6EA8"/>
                </a:solidFill>
                <a:latin typeface="微软雅黑" panose="020B0503020204020204" charset="-122"/>
              </a:rPr>
              <a:t>总览</a:t>
            </a:r>
            <a:endParaRPr sz="12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6EA8"/>
                </a:solidFill>
                <a:latin typeface="微软雅黑" panose="020B0503020204020204" charset="-122"/>
              </a:rPr>
              <a:t>▎所有模块都挂在这条主链上，理解四步即把握全局</a:t>
            </a:r>
            <a:endParaRPr sz="15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411480" cy="868680"/>
          </a:xfrm>
          <a:prstGeom prst="rect">
            <a:avLst/>
          </a:prstGeom>
          <a:solidFill>
            <a:srgbClr val="2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4114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920240"/>
            <a:ext cx="36576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 b="1" i="0">
                <a:solidFill>
                  <a:srgbClr val="2F3B52"/>
                </a:solidFill>
                <a:latin typeface="微软雅黑" panose="020B0503020204020204" charset="-122"/>
              </a:rPr>
              <a:t>① Hybrid PBI 混合分类</a:t>
            </a:r>
            <a:endParaRPr sz="1600" b="1" i="0">
              <a:solidFill>
                <a:srgbClr val="2F3B5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0" y="1920240"/>
            <a:ext cx="6705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222A35"/>
                </a:solidFill>
                <a:latin typeface="微软雅黑" panose="020B0503020204020204" charset="-122"/>
              </a:rPr>
              <a:t>对种群打 好/坏 标签，输出置信度与参考解 Ref</a:t>
            </a:r>
            <a:endParaRPr sz="13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27889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5A6370"/>
                </a:solidFill>
                <a:latin typeface="微软雅黑" panose="020B0503020204020204" charset="-122"/>
              </a:rPr>
              <a:t>↓</a:t>
            </a:r>
            <a:endParaRPr sz="1400" b="0" i="0">
              <a:solidFill>
                <a:srgbClr val="5A6370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3035808"/>
            <a:ext cx="411480" cy="868680"/>
          </a:xfrm>
          <a:prstGeom prst="rect">
            <a:avLst/>
          </a:prstGeom>
          <a:solidFill>
            <a:srgbClr val="2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35808"/>
            <a:ext cx="4114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34440" y="3035808"/>
            <a:ext cx="36576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 b="1" i="0">
                <a:solidFill>
                  <a:srgbClr val="2F3B52"/>
                </a:solidFill>
                <a:latin typeface="微软雅黑" panose="020B0503020204020204" charset="-122"/>
              </a:rPr>
              <a:t>② 运行时诊断</a:t>
            </a:r>
            <a:endParaRPr sz="1600" b="1" i="0">
              <a:solidFill>
                <a:srgbClr val="2F3B5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0" y="3035808"/>
            <a:ext cx="6705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222A35"/>
                </a:solidFill>
                <a:latin typeface="微软雅黑" panose="020B0503020204020204" charset="-122"/>
              </a:rPr>
              <a:t>计算 coverage（散不散）与 degeneracy（偏不偏），读种群状态</a:t>
            </a:r>
            <a:endParaRPr sz="13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90448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5A6370"/>
                </a:solidFill>
                <a:latin typeface="微软雅黑" panose="020B0503020204020204" charset="-122"/>
              </a:rPr>
              <a:t>↓</a:t>
            </a:r>
            <a:endParaRPr sz="1400" b="0" i="0">
              <a:solidFill>
                <a:srgbClr val="5A6370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4151376"/>
            <a:ext cx="411480" cy="868680"/>
          </a:xfrm>
          <a:prstGeom prst="rect">
            <a:avLst/>
          </a:prstGeom>
          <a:solidFill>
            <a:srgbClr val="2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51376"/>
            <a:ext cx="4114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34440" y="4151376"/>
            <a:ext cx="36576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 b="1" i="0">
                <a:solidFill>
                  <a:srgbClr val="2F3B52"/>
                </a:solidFill>
                <a:latin typeface="微软雅黑" panose="020B0503020204020204" charset="-122"/>
              </a:rPr>
              <a:t>③ 动态策略切换</a:t>
            </a:r>
            <a:endParaRPr sz="1600" b="1" i="0">
              <a:solidFill>
                <a:srgbClr val="2F3B52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0" y="4151376"/>
            <a:ext cx="6705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222A35"/>
                </a:solidFill>
                <a:latin typeface="微软雅黑" panose="020B0503020204020204" charset="-122"/>
              </a:rPr>
              <a:t>依据诊断结果，切换关系对训练模式 / 候选解选择模式</a:t>
            </a:r>
            <a:endParaRPr sz="13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" y="50200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5A6370"/>
                </a:solidFill>
                <a:latin typeface="微软雅黑" panose="020B0503020204020204" charset="-122"/>
              </a:rPr>
              <a:t>↓</a:t>
            </a:r>
            <a:endParaRPr sz="1400" b="0" i="0">
              <a:solidFill>
                <a:srgbClr val="5A6370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5266944"/>
            <a:ext cx="411480" cy="868680"/>
          </a:xfrm>
          <a:prstGeom prst="rect">
            <a:avLst/>
          </a:prstGeom>
          <a:solidFill>
            <a:srgbClr val="2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66944"/>
            <a:ext cx="4114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34440" y="5266944"/>
            <a:ext cx="36576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 b="1" i="0">
                <a:solidFill>
                  <a:srgbClr val="2F3B52"/>
                </a:solidFill>
                <a:latin typeface="微软雅黑" panose="020B0503020204020204" charset="-122"/>
              </a:rPr>
              <a:t>④ 训练 + 筛选 + 评估</a:t>
            </a:r>
            <a:endParaRPr sz="1600" b="1" i="0">
              <a:solidFill>
                <a:srgbClr val="2F3B52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0" y="5266944"/>
            <a:ext cx="6705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222A35"/>
                </a:solidFill>
                <a:latin typeface="微软雅黑" panose="020B0503020204020204" charset="-122"/>
              </a:rPr>
              <a:t>训练关系模型 → AdaMaOSelection 选候选 → 真实评估 → RefSelect 环境选择</a:t>
            </a:r>
            <a:endParaRPr sz="13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428232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6EA8"/>
                </a:solidFill>
                <a:latin typeface="微软雅黑" panose="020B0503020204020204" charset="-122"/>
              </a:rPr>
              <a:t>↻ 循环直至评估预算耗尽，输出累积的 Archive。</a:t>
            </a:r>
            <a:endParaRPr sz="13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微软雅黑" panose="020B0503020204020204" charset="-122"/>
              </a:rPr>
              <a:t>三、模块 ①：Hybrid PBI 混合分类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E6EA8"/>
                </a:solidFill>
                <a:latin typeface="微软雅黑" panose="020B0503020204020204" charset="-122"/>
              </a:rPr>
              <a:t>主链第①步</a:t>
            </a:r>
            <a:endParaRPr sz="12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6EA8"/>
                </a:solidFill>
                <a:latin typeface="微软雅黑" panose="020B0503020204020204" charset="-122"/>
              </a:rPr>
              <a:t>▎把连续的多目标问题，转化为「谁比谁好」的标签样本</a:t>
            </a:r>
            <a:endParaRPr sz="15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功能：对当前种群打 好/坏 标签（Catalog），同时输出每个解的置信度（confidence）与一组参考解（Ref）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机制：全局参考向量 PBI + 动态参考解 PBI 两套打分融合，取头部为好类、其余并入坏类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输出：Catalog / confidence / Ref —— 供后续关系对训练与候选筛选直接使用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重要性：是后续所有模块的「原料来源」，没有这一步，主链直接断裂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微软雅黑" panose="020B0503020204020204" charset="-122"/>
              </a:rPr>
              <a:t>三、模块 ②：运行时诊断 RuntimeDiagnostics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E6EA8"/>
                </a:solidFill>
                <a:latin typeface="微软雅黑" panose="020B0503020204020204" charset="-122"/>
              </a:rPr>
              <a:t>主链第②步</a:t>
            </a:r>
            <a:endParaRPr sz="12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6EA8"/>
                </a:solidFill>
                <a:latin typeface="微软雅黑" panose="020B0503020204020204" charset="-122"/>
              </a:rPr>
              <a:t>▎读取种群状态，告诉算法「现在散不散、偏不偏」</a:t>
            </a:r>
            <a:endParaRPr sz="15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coverage（覆盖率）：解的方向覆盖了多少个均匀参考向量（越高表示种群越分散）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degeneracy（退化度）：目标矩阵做 SVD 后，解释 90% 能量所需的秩（越高表示挤在低维子空间）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用途：coverage 控制探索强度与评估批量；degeneracy 当前仅用于 indicator 触发（计划删除）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意义：这是 AdaMaO 区别于「固定策略」前作（WFG10）的关键新增模块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微软雅黑" panose="020B0503020204020204" charset="-122"/>
              </a:rPr>
              <a:t>三、模块 ③：动态策略切换（上）· 关系对训练三模式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E6EA8"/>
                </a:solidFill>
                <a:latin typeface="微软雅黑" panose="020B0503020204020204" charset="-122"/>
              </a:rPr>
              <a:t>主链第③步</a:t>
            </a:r>
            <a:endParaRPr sz="12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6EA8"/>
                </a:solidFill>
                <a:latin typeface="微软雅黑" panose="020B0503020204020204" charset="-122"/>
              </a:rPr>
              <a:t>▎根据模型精度与置信度，选择不同的关系对生成方式</a:t>
            </a:r>
            <a:endParaRPr sz="15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conservative（默认）：使用原始关系对 GetRelationPairs，无权重，最稳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curriculum（上代误差大时）：只保留置信度前 80% 样本，过滤低置信噪声（课程学习思想）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weighted（模型准 + 置信高 + 覆盖低）：置信度加权 GetRelationPairs_confidence，让靠谱样本影响更大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本质：一个自适应开关，而非三个独立算法；阈值正在内生化，由问题规模自动决定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微软雅黑" panose="020B0503020204020204" charset="-122"/>
              </a:rPr>
              <a:t>三、模块 ③：动态策略切换（下）· 候选解选择三模式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E6EA8"/>
                </a:solidFill>
                <a:latin typeface="微软雅黑" panose="020B0503020204020204" charset="-122"/>
              </a:rPr>
              <a:t>主链第③步</a:t>
            </a:r>
            <a:endParaRPr sz="12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6EA8"/>
                </a:solidFill>
                <a:latin typeface="微软雅黑" panose="020B0503020204020204" charset="-122"/>
              </a:rPr>
              <a:t>▎根据模型精度与种群状态，选择不同的候选筛选方式</a:t>
            </a:r>
            <a:endParaRPr sz="15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conservative（默认）：仅按关系得分，选 n_min 个候选去真实评估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explore（模型准 + 覆盖低）：关系得分 + 不确定性 + 多样性，鼓励探索空白区域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indicator（种群退化高，计划删除）：用 PIEA 风格指标 SVR 对候选重排序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切换依据：模型测试误差 p_err、覆盖率 coverage、退化度 degeneracy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微软雅黑" panose="020B0503020204020204" charset="-122"/>
              </a:rPr>
              <a:t>三、模块 ④：关系预测模型训练 TrainRelationModel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E6EA8"/>
                </a:solidFill>
                <a:latin typeface="微软雅黑" panose="020B0503020204020204" charset="-122"/>
              </a:rPr>
              <a:t>主链第④步 · 训练侧</a:t>
            </a:r>
            <a:endParaRPr sz="12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6EA8"/>
                </a:solidFill>
                <a:latin typeface="微软雅黑" panose="020B0503020204020204" charset="-122"/>
              </a:rPr>
              <a:t>▎学习「好/坏映射」的神经网络，并回灌误差给策略切换</a:t>
            </a:r>
            <a:endParaRPr sz="15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输入：关系对样本（两个解的决策变量拼接）+ 标签 {-1, 0, +1}，转为 one-hot 编码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结构：三层前馈 patternnet（节点数 1.5×Dim / Dim / 0.5×Dim），softmax 输出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训练：mapminmax 归一化；weighted 模式按置信度加权（下限截断 w_min 防训练不稳定）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评估：测试集分类错误率 p_err，作为下一轮策略切换的判断依据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微软雅黑" panose="020B0503020204020204" charset="-122"/>
              </a:rPr>
              <a:t>三、模块 ⑤：AdaMaOSelection 候选筛选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E6EA8"/>
                </a:solidFill>
                <a:latin typeface="微软雅黑" panose="020B0503020204020204" charset="-122"/>
              </a:rPr>
              <a:t>主链第④步 · 选择侧</a:t>
            </a:r>
            <a:endParaRPr sz="12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6EA8"/>
                </a:solidFill>
                <a:latin typeface="微软雅黑" panose="020B0503020204020204" charset="-122"/>
              </a:rPr>
              <a:t>▎在候选池里挑出少量解，送去昂贵的真实评估</a:t>
            </a:r>
            <a:endParaRPr sz="15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流程：内层 GA 生成候选池 → model_select 用关系模型打分 → 按候选模式筛选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conservative：按关系得分取前 n_min 个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explore：得分 + 不确定性 + 贪心多样性（max-min distance），避免聚簇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indicator：关系得分粗筛 + SVR 指标重排序（计划删除）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兜底：若筛选失败，退回普通 GA 生成备选候选，保证每轮都有评估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微软雅黑" panose="020B0503020204020204" charset="-122"/>
              </a:rPr>
              <a:t>三、模块 ⑥：RefSelect 环境选择 + Archive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E6EA8"/>
                </a:solidFill>
                <a:latin typeface="微软雅黑" panose="020B0503020204020204" charset="-122"/>
              </a:rPr>
              <a:t>主链第④步 · 收尾</a:t>
            </a:r>
            <a:endParaRPr sz="12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6EA8"/>
                </a:solidFill>
                <a:latin typeface="微软雅黑" panose="020B0503020204020204" charset="-122"/>
              </a:rPr>
              <a:t>▎从累积的全部真实评估解中，选出下一代种群</a:t>
            </a:r>
            <a:endParaRPr sz="15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Archive：累积所有真实评估过的解，是算法的最终输出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RefSelect：采用 RSEA 雷达网格策略，将高维目标映射到 2D 雷达网格做环境选择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输出：规模为 N 的下一代 Population，进入下一轮主链循环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作用：在有限预算下维持种群的收敛性与分布性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微软雅黑" panose="020B0503020204020204" charset="-122"/>
              </a:rPr>
              <a:t>三、模块 ＋：PIEA 指标子系统（补充）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2815" y="29260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E6EA8"/>
                </a:solidFill>
                <a:latin typeface="微软雅黑" panose="020B0503020204020204" charset="-122"/>
              </a:rPr>
              <a:t>第③步 indicator 分支</a:t>
            </a:r>
            <a:endParaRPr sz="12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6EA8"/>
                </a:solidFill>
                <a:latin typeface="微软雅黑" panose="020B0503020204020204" charset="-122"/>
              </a:rPr>
              <a:t>▎轮盘选择一种指标评估种群——已证无益，计划移除</a:t>
            </a:r>
            <a:endParaRPr sz="15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组成：IndicatorSelector（轮盘选 SDE / I_epsilon+ / Minkowski）、Shape_Estimate（估计 PF 形状 Lp）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配套：fitrsvm 指标模型、UpdateInformation（轮盘概率反馈）、NDSort_SDR（强支配反馈）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现状：消融 5 变体无统计显著差异（Friedman p=0.84），且在断开 PF（如 DTLZ7）上会塌缩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处置：计划从最终版本 AdaMaO-S 彻底移除，使论文贡献更干净、更原创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微软雅黑" panose="020B0503020204020204" charset="-122"/>
              </a:rPr>
              <a:t>四、总结与下一步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6EA8"/>
                </a:solidFill>
                <a:latin typeface="微软雅黑" panose="020B0503020204020204" charset="-122"/>
              </a:rPr>
              <a:t>▎模块虽多，但绝大多数挂在②③的增强上；已用消融定位无用模块</a:t>
            </a:r>
            <a:endParaRPr sz="1500" b="1" i="0">
              <a:solidFill>
                <a:srgbClr val="2E6EA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主链闭环：分类 → 诊断 → 动态切策略 → 训练筛选，实现昂贵高维多目标下的自适应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各模块职责清晰：分类提供标签、诊断读状态、切换选策略、训练与筛选落地、环境选择维持种群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指标子系统与 curriculum 等经消融验证非必需，正在按结果裁剪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 i="0">
                <a:solidFill>
                  <a:srgbClr val="222A35"/>
                </a:solidFill>
                <a:latin typeface="微软雅黑" panose="020B0503020204020204" charset="-122"/>
              </a:rPr>
              <a:t>•  下一步：删 indicator / curriculum、把超参数内生化 → 推出更干净的 AdaMaO-S（基本无外部调参）</a:t>
            </a:r>
            <a:endParaRPr sz="1400" b="0" i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演示</Application>
  <PresentationFormat>On-screen Show (4:3)</PresentationFormat>
  <Paragraphs>152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没意见</cp:lastModifiedBy>
  <cp:revision>2</cp:revision>
  <dcterms:created xsi:type="dcterms:W3CDTF">2013-01-27T09:14:00Z</dcterms:created>
  <dcterms:modified xsi:type="dcterms:W3CDTF">2026-07-08T05:39:16Z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0D7B6C84C06F45758EF83BF487CEC96D_12</vt:lpwstr>
  </property>
  <property fmtid="{D5CDD505-2E9C-101B-9397-08002B2CF9AE}" pid="3" name="KSOProductBuildVer">
    <vt:lpwstr>2052-12.1.0.26895</vt:lpwstr>
  </property>
</Properties>
</file>